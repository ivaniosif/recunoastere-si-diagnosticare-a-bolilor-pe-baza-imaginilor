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28"/>
  </p:notesMasterIdLst>
  <p:handoutMasterIdLst>
    <p:handoutMasterId r:id="rId29"/>
  </p:handoutMasterIdLst>
  <p:sldIdLst>
    <p:sldId id="278" r:id="rId5"/>
    <p:sldId id="282" r:id="rId6"/>
    <p:sldId id="284" r:id="rId7"/>
    <p:sldId id="286" r:id="rId8"/>
    <p:sldId id="287" r:id="rId9"/>
    <p:sldId id="290" r:id="rId10"/>
    <p:sldId id="289" r:id="rId11"/>
    <p:sldId id="291" r:id="rId12"/>
    <p:sldId id="303" r:id="rId13"/>
    <p:sldId id="293" r:id="rId14"/>
    <p:sldId id="294" r:id="rId15"/>
    <p:sldId id="277" r:id="rId16"/>
    <p:sldId id="295" r:id="rId17"/>
    <p:sldId id="279" r:id="rId18"/>
    <p:sldId id="296" r:id="rId19"/>
    <p:sldId id="281" r:id="rId20"/>
    <p:sldId id="297" r:id="rId21"/>
    <p:sldId id="298" r:id="rId22"/>
    <p:sldId id="299" r:id="rId23"/>
    <p:sldId id="300" r:id="rId24"/>
    <p:sldId id="301" r:id="rId25"/>
    <p:sldId id="302" r:id="rId26"/>
    <p:sldId id="29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778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047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17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89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765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82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15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59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6689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1" r:id="rId14"/>
    <p:sldLayoutId id="2147483723" r:id="rId15"/>
    <p:sldLayoutId id="2147483725" r:id="rId16"/>
    <p:sldLayoutId id="2147483726" r:id="rId17"/>
    <p:sldLayoutId id="2147483727" r:id="rId18"/>
    <p:sldLayoutId id="2147483728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629" y="1266738"/>
            <a:ext cx="4624442" cy="2751589"/>
          </a:xfrm>
          <a:noFill/>
        </p:spPr>
        <p:txBody>
          <a:bodyPr anchor="ctr">
            <a:noAutofit/>
          </a:bodyPr>
          <a:lstStyle/>
          <a:p>
            <a:br>
              <a:rPr lang="en-US" sz="3200" dirty="0">
                <a:latin typeface="Abadi" panose="020B0604020104020204" pitchFamily="34" charset="0"/>
              </a:rPr>
            </a:br>
            <a:r>
              <a:rPr lang="ro-RO" sz="3200" dirty="0">
                <a:latin typeface="Abadi" panose="020B0604020104020204" pitchFamily="34" charset="0"/>
              </a:rPr>
              <a:t>Sistem cu inteligență artificială (SIA)</a:t>
            </a:r>
            <a:br>
              <a:rPr lang="en-US" sz="3200" dirty="0">
                <a:latin typeface="Abadi" panose="020B0604020104020204" pitchFamily="34" charset="0"/>
              </a:rPr>
            </a:br>
            <a:r>
              <a:rPr lang="ro-RO" sz="3200" dirty="0">
                <a:latin typeface="Abadi" panose="020B0604020104020204" pitchFamily="34" charset="0"/>
              </a:rPr>
              <a:t> </a:t>
            </a:r>
            <a:br>
              <a:rPr lang="en-US" sz="3200" dirty="0">
                <a:latin typeface="Abadi" panose="020B0604020104020204" pitchFamily="34" charset="0"/>
              </a:rPr>
            </a:br>
            <a:r>
              <a:rPr lang="en-US" sz="3200" dirty="0" err="1">
                <a:latin typeface="Abadi" panose="020B0604020104020204" pitchFamily="34" charset="0"/>
              </a:rPr>
              <a:t>Diagnosticare</a:t>
            </a:r>
            <a:r>
              <a:rPr lang="en-US" sz="3200" dirty="0">
                <a:latin typeface="Abadi" panose="020B0604020104020204" pitchFamily="34" charset="0"/>
              </a:rPr>
              <a:t> </a:t>
            </a:r>
            <a:r>
              <a:rPr lang="en-US" sz="3200" dirty="0" err="1">
                <a:latin typeface="Abadi" panose="020B0604020104020204" pitchFamily="34" charset="0"/>
              </a:rPr>
              <a:t>si</a:t>
            </a:r>
            <a:r>
              <a:rPr lang="en-US" sz="3200" dirty="0">
                <a:latin typeface="Abadi" panose="020B0604020104020204" pitchFamily="34" charset="0"/>
              </a:rPr>
              <a:t> </a:t>
            </a:r>
            <a:r>
              <a:rPr lang="en-US" sz="3200" dirty="0" err="1">
                <a:latin typeface="Abadi" panose="020B0604020104020204" pitchFamily="34" charset="0"/>
              </a:rPr>
              <a:t>Triaj</a:t>
            </a:r>
            <a:r>
              <a:rPr lang="en-US" sz="3200" dirty="0">
                <a:latin typeface="Abadi" panose="020B0604020104020204" pitchFamily="34" charset="0"/>
              </a:rPr>
              <a:t> Medical</a:t>
            </a:r>
            <a:br>
              <a:rPr lang="en-US" dirty="0"/>
            </a:br>
            <a:r>
              <a:rPr lang="en-US" sz="3200" dirty="0">
                <a:latin typeface="Abadi" panose="020B0604020104020204" pitchFamily="34" charset="0"/>
              </a:rPr>
              <a:t> </a:t>
            </a:r>
            <a:br>
              <a:rPr lang="en-US" dirty="0">
                <a:latin typeface="Abadi" panose="020B0604020104020204" pitchFamily="34" charset="0"/>
              </a:rPr>
            </a:br>
            <a:endParaRPr lang="en-US" dirty="0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DB7EEB-0236-E26A-381C-A8B3772936E0}"/>
              </a:ext>
            </a:extLst>
          </p:cNvPr>
          <p:cNvSpPr txBox="1"/>
          <p:nvPr/>
        </p:nvSpPr>
        <p:spPr>
          <a:xfrm>
            <a:off x="6786693" y="4080217"/>
            <a:ext cx="29361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Program de </a:t>
            </a:r>
            <a:r>
              <a:rPr lang="en-US" sz="1400" dirty="0" err="1"/>
              <a:t>studii</a:t>
            </a:r>
            <a:r>
              <a:rPr lang="en-US" sz="1400" dirty="0"/>
              <a:t>: Informatica </a:t>
            </a:r>
            <a:r>
              <a:rPr lang="en-US" sz="1400" dirty="0" err="1"/>
              <a:t>Industriala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Anul </a:t>
            </a:r>
            <a:r>
              <a:rPr lang="ro-RO" sz="1400" kern="100" dirty="0">
                <a:solidFill>
                  <a:schemeClr val="bg1"/>
                </a:solidFill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400" kern="10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en-US" sz="1400" kern="10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kern="100" dirty="0" err="1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Semestrul</a:t>
            </a:r>
            <a:r>
              <a:rPr lang="en-US" sz="1400" kern="10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400" kern="100" dirty="0">
                <a:solidFill>
                  <a:schemeClr val="bg1"/>
                </a:solidFill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400" kern="10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400" kern="100" dirty="0">
              <a:latin typeface="Abadi" panose="020B06040201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kern="1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r>
              <a:rPr lang="en-US" sz="1400" kern="100" dirty="0">
                <a:latin typeface="Abadi" panose="020B0604020104020204" pitchFamily="34" charset="0"/>
                <a:cs typeface="Times New Roman" panose="02020603050405020304" pitchFamily="18" charset="0"/>
              </a:rPr>
              <a:t>Curs: </a:t>
            </a:r>
            <a:r>
              <a:rPr lang="en-US" sz="1400" kern="100" dirty="0" err="1">
                <a:latin typeface="Abadi" panose="020B0604020104020204" pitchFamily="34" charset="0"/>
                <a:cs typeface="Times New Roman" panose="02020603050405020304" pitchFamily="18" charset="0"/>
              </a:rPr>
              <a:t>Retele</a:t>
            </a:r>
            <a:r>
              <a:rPr lang="en-US" sz="1400" kern="100" dirty="0">
                <a:latin typeface="Abadi" panose="020B0604020104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latin typeface="Abadi" panose="020B0604020104020204" pitchFamily="34" charset="0"/>
                <a:cs typeface="Times New Roman" panose="02020603050405020304" pitchFamily="18" charset="0"/>
              </a:rPr>
              <a:t>Neuronale</a:t>
            </a:r>
            <a:endParaRPr lang="en-US" sz="1400" dirty="0"/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072D46DE-5D1E-6337-55FE-6E70366CD2C6}"/>
              </a:ext>
            </a:extLst>
          </p:cNvPr>
          <p:cNvSpPr txBox="1"/>
          <p:nvPr/>
        </p:nvSpPr>
        <p:spPr>
          <a:xfrm>
            <a:off x="9136551" y="4080217"/>
            <a:ext cx="50133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1400" dirty="0">
                <a:latin typeface="Abad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400" dirty="0" err="1">
                <a:latin typeface="Abadi" panose="020F0502020204030204" pitchFamily="34" charset="0"/>
                <a:cs typeface="Times New Roman" panose="02020603050405020304" pitchFamily="18" charset="0"/>
              </a:rPr>
              <a:t>tudent</a:t>
            </a:r>
            <a:r>
              <a:rPr lang="en-US" sz="1400" dirty="0">
                <a:latin typeface="Abadi" panose="020F0502020204030204" pitchFamily="34" charset="0"/>
                <a:cs typeface="Times New Roman" panose="02020603050405020304" pitchFamily="18" charset="0"/>
              </a:rPr>
              <a:t>: Ivan Iosif-Sebastian</a:t>
            </a:r>
          </a:p>
          <a:p>
            <a:endParaRPr lang="en-US" sz="14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badi" panose="020F0502020204030204" pitchFamily="34" charset="0"/>
                <a:cs typeface="Times New Roman" panose="02020603050405020304" pitchFamily="18" charset="0"/>
              </a:rPr>
              <a:t>Grupa: 633AB</a:t>
            </a:r>
          </a:p>
          <a:p>
            <a:endParaRPr lang="en-US" sz="14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latin typeface="Abadi" panose="020F0502020204030204" pitchFamily="34" charset="0"/>
                <a:cs typeface="Times New Roman" panose="02020603050405020304" pitchFamily="18" charset="0"/>
              </a:rPr>
              <a:t>Profesori</a:t>
            </a:r>
            <a:r>
              <a:rPr lang="en-US" sz="1400" dirty="0">
                <a:latin typeface="Abad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Abadi" panose="020F0502020204030204" pitchFamily="34" charset="0"/>
                <a:cs typeface="Times New Roman" panose="02020603050405020304" pitchFamily="18" charset="0"/>
              </a:rPr>
              <a:t>coordonatori</a:t>
            </a:r>
            <a:r>
              <a:rPr lang="en-US" sz="1400" dirty="0">
                <a:latin typeface="Abadi" panose="020F0502020204030204" pitchFamily="34" charset="0"/>
                <a:cs typeface="Times New Roman" panose="02020603050405020304" pitchFamily="18" charset="0"/>
              </a:rPr>
              <a:t>: </a:t>
            </a:r>
            <a:endParaRPr lang="ro-RO" sz="1400" dirty="0">
              <a:latin typeface="Abad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Abadi" panose="020F0502020204030204" pitchFamily="34" charset="0"/>
                <a:cs typeface="Times New Roman" panose="02020603050405020304" pitchFamily="18" charset="0"/>
              </a:rPr>
              <a:t>Bogdan Felician </a:t>
            </a:r>
            <a:r>
              <a:rPr lang="ro-RO" sz="1400" dirty="0" err="1">
                <a:latin typeface="Abadi" panose="020F0502020204030204" pitchFamily="34" charset="0"/>
                <a:cs typeface="Times New Roman" panose="02020603050405020304" pitchFamily="18" charset="0"/>
              </a:rPr>
              <a:t>Abaza</a:t>
            </a:r>
            <a:endParaRPr lang="ro-RO" sz="1400" dirty="0">
              <a:latin typeface="Abad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08C75063-BBA0-0774-28DB-D6B1860E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223867"/>
            <a:ext cx="11090275" cy="791202"/>
          </a:xfrm>
        </p:spPr>
        <p:txBody>
          <a:bodyPr>
            <a:noAutofit/>
          </a:bodyPr>
          <a:lstStyle/>
          <a:p>
            <a:pPr lvl="0" algn="ctr">
              <a:lnSpc>
                <a:spcPts val="8985"/>
              </a:lnSpc>
            </a:pPr>
            <a:r>
              <a:rPr lang="en-US" sz="32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Structura</a:t>
            </a:r>
            <a:r>
              <a:rPr lang="en-US" sz="32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Dezvoltare</a:t>
            </a:r>
            <a:r>
              <a:rPr lang="en-US" sz="32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Proiect</a:t>
            </a:r>
            <a:r>
              <a:rPr lang="en-US" sz="32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RN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C9BE1008-B789-19B4-82CA-61F769FCF0F7}"/>
              </a:ext>
            </a:extLst>
          </p:cNvPr>
          <p:cNvSpPr txBox="1"/>
          <p:nvPr/>
        </p:nvSpPr>
        <p:spPr>
          <a:xfrm>
            <a:off x="375907" y="1246267"/>
            <a:ext cx="10831786" cy="590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Introducere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Descrierea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nevoii</a:t>
            </a:r>
            <a:endParaRPr lang="en-US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Domeniul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Industrial de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Interes</a:t>
            </a:r>
            <a:endParaRPr lang="en-US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it-IT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Descrierea Sistemului cu Inteligență Artificială (SIA)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Arhitectura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Software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Modelul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de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Rețea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Neuronală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pt-BR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Procesul de Preprocesare a Datelor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Dezvoltarea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Interfetei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Streamlit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Testare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,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Simulare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și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Evaluare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Limitari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și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Provocari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Discutii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si</a:t>
            </a:r>
            <a:r>
              <a:rPr lang="en-US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pc="215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Concluzii</a:t>
            </a:r>
            <a:endParaRPr lang="ro-RO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 de Dezvoltare Viitoare</a:t>
            </a:r>
            <a:r>
              <a:rPr lang="en-US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endParaRPr lang="ro-RO" spc="2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  <a:p>
            <a:pPr marL="653892" lvl="1" indent="-326946">
              <a:lnSpc>
                <a:spcPct val="150000"/>
              </a:lnSpc>
              <a:buFont typeface="Arial"/>
              <a:buChar char="•"/>
            </a:pPr>
            <a:r>
              <a:rPr lang="ro-RO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Resurse </a:t>
            </a:r>
            <a:r>
              <a:rPr lang="en-US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s</a:t>
            </a:r>
            <a:r>
              <a:rPr lang="ro-RO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 Bibliografie</a:t>
            </a:r>
          </a:p>
          <a:p>
            <a:pPr marL="653892" lvl="1" indent="-326946" algn="l">
              <a:lnSpc>
                <a:spcPts val="4240"/>
              </a:lnSpc>
              <a:buFont typeface="Arial"/>
              <a:buChar char="•"/>
            </a:pPr>
            <a:endParaRPr lang="en-US" sz="3028" spc="215" dirty="0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143" y="557196"/>
            <a:ext cx="7960421" cy="1450217"/>
          </a:xfrm>
        </p:spPr>
        <p:txBody>
          <a:bodyPr>
            <a:normAutofit/>
          </a:bodyPr>
          <a:lstStyle/>
          <a:p>
            <a:pPr lvl="0">
              <a:lnSpc>
                <a:spcPts val="8985"/>
              </a:lnSpc>
            </a:pPr>
            <a:r>
              <a:rPr lang="en-US" sz="32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I. </a:t>
            </a:r>
            <a:r>
              <a:rPr lang="en-US" sz="32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Introducere</a:t>
            </a:r>
            <a:endParaRPr lang="en-US" sz="3200" spc="417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lat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inteligent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medical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utilizează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tip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MLP (Multi-Layer Perceptron)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diferenția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(TensorFlow/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utilizează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ponderare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siguranța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orienta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pista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diagnostic,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TBC cu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sensibilitate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85%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bazându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-se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20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indicatori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cuprind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256094"/>
            <a:ext cx="11090274" cy="1018161"/>
          </a:xfrm>
        </p:spPr>
        <p:txBody>
          <a:bodyPr>
            <a:normAutofit/>
          </a:bodyPr>
          <a:lstStyle/>
          <a:p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o-RO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II.</a:t>
            </a:r>
            <a:r>
              <a:rPr lang="ro-RO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Descrierea</a:t>
            </a:r>
            <a:r>
              <a:rPr lang="ro-RO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nevoii</a:t>
            </a:r>
            <a:r>
              <a:rPr lang="en-US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si</a:t>
            </a:r>
            <a:r>
              <a:rPr lang="en-US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Impactul</a:t>
            </a:r>
            <a:r>
              <a:rPr lang="en-US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clinic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Provocarea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rurale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lipsă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aparatura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specialiști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Punct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Critic: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diferențial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TBC vs.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subiectiv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lent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Consecințe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contagiune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comunitară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(TBC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nediagnosticat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supraîncărcarea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transferuri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inutile.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Soluția: Sistem Informatic Avansat (SIA)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Asistenta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Suport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Decizional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Automatizat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Multi-Layer-Perceptron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capabilă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vadă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corelații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liniare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(pe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ochiul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rata sub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presiune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reteaua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clinic al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pacientilor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Inovație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Logica de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Boosting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denumite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999323"/>
          </a:xfrm>
        </p:spPr>
        <p:txBody>
          <a:bodyPr>
            <a:noAutofit/>
          </a:bodyPr>
          <a:lstStyle/>
          <a:p>
            <a:r>
              <a:rPr lang="ro-RO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III.</a:t>
            </a:r>
            <a:r>
              <a:rPr lang="en-US" sz="36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Domeniul</a:t>
            </a:r>
            <a:r>
              <a:rPr lang="en-US" sz="36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Industrial de </a:t>
            </a:r>
            <a:r>
              <a:rPr lang="en-US" sz="3600" spc="417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Interes</a:t>
            </a:r>
            <a:br>
              <a:rPr lang="en-US" sz="3600" spc="41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</a:b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59" y="1507958"/>
            <a:ext cx="6636003" cy="4584867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Sectorul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medical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ocupa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screening,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tratamentul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bolilor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respiratorii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contagioase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infectioase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Triajul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clinic manual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subiectiv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predispus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erorilor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suprapuse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febră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fac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dificilă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distincția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rapidă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infecție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banală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contagioasă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(TBC).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Infrastructură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medicală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limitată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rurale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defavorizate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lipsa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echipamentelor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radiologie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imagistica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cat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specialisti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întârzie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clinic.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 major de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contagiune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târzie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pericol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siguranța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întregii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comunități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răspândirea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necontrolată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1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863BD-C61D-2BEF-C018-0C038EBE89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491662" y="1507958"/>
            <a:ext cx="4149477" cy="4584867"/>
          </a:xfrm>
        </p:spPr>
        <p:txBody>
          <a:bodyPr>
            <a:normAutofit/>
          </a:bodyPr>
          <a:lstStyle/>
          <a:p>
            <a:r>
              <a:rPr lang="en-US" sz="2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Impactul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Soluției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SIA (</a:t>
            </a:r>
            <a:r>
              <a:rPr lang="en-US" sz="2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Informatic </a:t>
            </a:r>
            <a:r>
              <a:rPr lang="en-US" sz="2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Avansat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Creșterea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Siguranței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Publice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Detectarea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timpurie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cazuisticii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contagioase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atingerea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prag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sensibilitate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(recall) de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peste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85%.</a:t>
            </a:r>
          </a:p>
          <a:p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Eficientizarea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Resurselor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Medicale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supraîncărcării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spitalelor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județene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corect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Echilibru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Terapeutic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Diminuarea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tratamente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eronate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oferind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date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obiectivă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0">
            <a:normAutofit/>
          </a:bodyPr>
          <a:lstStyle/>
          <a:p>
            <a:pPr marL="326946" lvl="1" algn="l">
              <a:lnSpc>
                <a:spcPts val="4240"/>
              </a:lnSpc>
            </a:pPr>
            <a:r>
              <a:rPr lang="ro-RO" sz="3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IV</a:t>
            </a:r>
            <a:r>
              <a:rPr lang="ro-RO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it-IT" sz="3200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Descrierea Sistemului cu</a:t>
            </a:r>
            <a:r>
              <a:rPr lang="ro-RO" sz="3200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it-IT" sz="3200" spc="21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Inteligență Artificială (SIA)</a:t>
            </a:r>
            <a:endParaRPr lang="ro-RO" sz="3200" spc="215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C33803B-E1E6-9BAA-DE9F-B5B928DFF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306655"/>
            <a:ext cx="6105578" cy="4388619"/>
          </a:xfrm>
        </p:spPr>
        <p:txBody>
          <a:bodyPr>
            <a:normAutofit fontScale="25000" lnSpcReduction="20000"/>
          </a:bodyPr>
          <a:lstStyle/>
          <a:p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</a:t>
            </a:r>
            <a:r>
              <a:rPr lang="en-US" sz="7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din </a:t>
            </a:r>
            <a:r>
              <a:rPr lang="en-US" sz="7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</a:t>
            </a: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model cu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Inteligenta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realizeaza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triajul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medical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automatizat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20 de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indicatori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clinici</a:t>
            </a: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diferential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ro-RO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 Cum funcționează?</a:t>
            </a:r>
            <a:endParaRPr lang="en-US" sz="7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Generarea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de 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30.000 de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chestionare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bazate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caracteristicile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bolilor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(ex.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tuse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accentuata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oboseala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cronica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etc.)</a:t>
            </a: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Preprocesare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Normalizare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Transpunerea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intervalul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[0.0, 1.0]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stabilitatea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antrenamentului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Antrenarea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foloseste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straturi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(MLP)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invata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existente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Inferenta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Calculul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probabilitatii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diagnostic pe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celor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 de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inputuri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normalizate</a:t>
            </a: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Integrare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UI –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-o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aplicatie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folosind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introducerea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FBDD1E-A65A-E4E7-BDAF-D38D45A55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904" y="3662547"/>
            <a:ext cx="5093106" cy="1375139"/>
          </a:xfrm>
          <a:custGeom>
            <a:avLst/>
            <a:gdLst/>
            <a:ahLst/>
            <a:cxnLst/>
            <a:rect l="l" t="t" r="r" b="b"/>
            <a:pathLst>
              <a:path w="2434045" h="2435676">
                <a:moveTo>
                  <a:pt x="0" y="0"/>
                </a:moveTo>
                <a:lnTo>
                  <a:pt x="2434045" y="0"/>
                </a:lnTo>
                <a:lnTo>
                  <a:pt x="2434045" y="2435676"/>
                </a:lnTo>
                <a:lnTo>
                  <a:pt x="0" y="243567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1"/>
            <a:ext cx="4402137" cy="533584"/>
          </a:xfrm>
          <a:noFill/>
        </p:spPr>
        <p:txBody>
          <a:bodyPr anchor="t">
            <a:noAutofit/>
          </a:bodyPr>
          <a:lstStyle/>
          <a:p>
            <a:r>
              <a:rPr lang="ro-RO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🔍 Tehnologii utilizate: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719" y="1917065"/>
            <a:ext cx="6040511" cy="4297680"/>
          </a:xfrm>
          <a:noFill/>
        </p:spPr>
        <p:txBody>
          <a:bodyPr vert="horz" lIns="0" tIns="0" rIns="91440" bIns="45720" rtlCol="0" anchor="t">
            <a:normAutofit fontScale="92500" lnSpcReduction="10000"/>
          </a:bodyPr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</a:t>
            </a: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pentru dezvoltarea rețelei neuronale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Tehnologia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folosită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aplicației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interactive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 &amp; Seaborn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Biblioteci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graficelor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performanță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Beneficii:</a:t>
            </a:r>
          </a:p>
          <a:p>
            <a:pPr>
              <a:lnSpc>
                <a:spcPct val="120000"/>
              </a:lnSpc>
            </a:pP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Estimări mai rapide și mai precise decât metodele tradiționale</a:t>
            </a:r>
          </a:p>
          <a:p>
            <a:pPr>
              <a:lnSpc>
                <a:spcPct val="120000"/>
              </a:lnSpc>
            </a:pP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Elimina erorile umane și subiectivitatea</a:t>
            </a:r>
          </a:p>
          <a:p>
            <a:pPr>
              <a:lnSpc>
                <a:spcPct val="120000"/>
              </a:lnSpc>
            </a:pP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Poate fi îmbunătățit și </a:t>
            </a:r>
            <a:r>
              <a:rPr lang="ro-R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scalat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pentru noi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necesitati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medicale</a:t>
            </a:r>
            <a:endParaRPr lang="ro-R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BA8EE8-09AD-4DC3-6487-44CCC158D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222" y="1655743"/>
            <a:ext cx="1857634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4" y="311971"/>
            <a:ext cx="11090275" cy="596720"/>
          </a:xfrm>
          <a:noFill/>
        </p:spPr>
        <p:txBody>
          <a:bodyPr anchor="t"/>
          <a:lstStyle/>
          <a:p>
            <a:pPr marL="326946"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</a:t>
            </a:r>
            <a:r>
              <a:rPr lang="en-US" sz="3200" kern="1200" spc="215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Arhitectura</a:t>
            </a:r>
            <a:r>
              <a:rPr lang="en-US" sz="3200" kern="1200" spc="215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Software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5D8FB-7CB8-8C47-B8A8-A874A0C69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3041" y="1491094"/>
            <a:ext cx="6960985" cy="4014971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reprezintă</a:t>
            </a: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arhitectura</a:t>
            </a: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software a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55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acestui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modulară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organizată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interacționează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furniza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predicții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precise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(TBC)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4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 </a:t>
            </a:r>
            <a:r>
              <a:rPr lang="en-US" sz="5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Componentele</a:t>
            </a:r>
            <a:r>
              <a:rPr lang="en-US" sz="5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Arhitecturii</a:t>
            </a:r>
            <a:r>
              <a:rPr lang="en-US" sz="5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1️⃣ 🔄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Preprocesarea</a:t>
            </a: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5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Logica </a:t>
            </a:r>
            <a:r>
              <a:rPr lang="en-US" sz="5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Semantică</a:t>
            </a:r>
            <a:endParaRPr lang="en-US" sz="5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sunt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colectate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Inovatia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majora a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acestui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Stratul</a:t>
            </a:r>
            <a:r>
              <a:rPr lang="en-US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Logica </a:t>
            </a:r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Semantică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care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atribuind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valoarea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”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anumitor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indicatori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intrebari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sângele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tuse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scăderea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greutate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înainte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intra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AI.</a:t>
            </a:r>
          </a:p>
          <a:p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Fișiere</a:t>
            </a:r>
            <a:r>
              <a:rPr lang="en-US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relevante</a:t>
            </a:r>
            <a:r>
              <a:rPr lang="en-US" sz="4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4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pneumonie.csv, tuberculoza.csv.</a:t>
            </a:r>
          </a:p>
          <a:p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/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75EA67-E23C-1C14-2095-26447A12B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248" y="1491094"/>
            <a:ext cx="4213908" cy="435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65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5E2BC-2FDA-304A-D336-69C3A5A9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6917" y="658762"/>
            <a:ext cx="5565057" cy="5515896"/>
          </a:xfrm>
        </p:spPr>
        <p:txBody>
          <a:bodyPr>
            <a:normAutofit/>
          </a:bodyPr>
          <a:lstStyle/>
          <a:p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2️⃣ 🤖 </a:t>
            </a:r>
            <a:r>
              <a:rPr lang="en-US" sz="23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(</a:t>
            </a:r>
            <a:r>
              <a:rPr lang="en-US" sz="23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Nucleul</a:t>
            </a:r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3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Clasificare</a:t>
            </a:r>
            <a:r>
              <a:rPr lang="en-US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tip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MLP (Multi-Layer Perceptron)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/TensorFlow,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relații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non-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liniare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Fisier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relevant: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optimized.py. 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Scaler-ul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stocat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asigura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scalare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consistentă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scaler_optimized.skl</a:t>
            </a:r>
            <a:endParaRPr lang="en-US" sz="1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900" dirty="0">
                <a:solidFill>
                  <a:schemeClr val="bg1"/>
                </a:solidFill>
              </a:rPr>
              <a:t>3️⃣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📌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Interfața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Suport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Decizional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9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Această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reprezintă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interacțiune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utilizatorului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Rolul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prelua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subiective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de a le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matematic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interoga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diagnostic rapid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A8DEB6-EE0B-B54C-0F0B-63ED053B4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86" y="1513423"/>
            <a:ext cx="4835157" cy="365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66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A0E1-ED52-E9E0-460F-5EDA70C38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D08D-AAEB-51DD-C5E1-F0FD563DA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07" y="115079"/>
            <a:ext cx="11090275" cy="596720"/>
          </a:xfrm>
          <a:noFill/>
        </p:spPr>
        <p:txBody>
          <a:bodyPr anchor="t"/>
          <a:lstStyle/>
          <a:p>
            <a:pPr marL="326946"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 .</a:t>
            </a:r>
            <a:r>
              <a:rPr lang="en-US" sz="3200" kern="1200" spc="215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Modelul</a:t>
            </a:r>
            <a:r>
              <a:rPr lang="en-US" sz="3200" kern="1200" spc="215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de </a:t>
            </a:r>
            <a:r>
              <a:rPr lang="en-US" sz="3200" kern="1200" spc="215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Retea</a:t>
            </a:r>
            <a:r>
              <a:rPr lang="en-US" sz="3200" kern="1200" spc="215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en-US" sz="3200" kern="1200" spc="215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Neuronala</a:t>
            </a:r>
            <a:endParaRPr lang="en-US" sz="3200" kern="1200" spc="215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A4A5E-C441-F874-C563-2078B37D6E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1897" y="711799"/>
            <a:ext cx="7526593" cy="6525756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</a:t>
            </a:r>
            <a:r>
              <a:rPr lang="en-US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reprezintă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arhitectura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software a </a:t>
            </a:r>
            <a:r>
              <a:rPr lang="en-US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4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modulară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organizată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multe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componente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interacționează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furniza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predicții</a:t>
            </a: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precise.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Arhitectura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Retelei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Neuronale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ro-RO" sz="3800" dirty="0">
                <a:latin typeface="Abadi" panose="020B0604020104020204" pitchFamily="34" charset="0"/>
              </a:rPr>
              <a:t>✅ Input </a:t>
            </a:r>
            <a:r>
              <a:rPr lang="ro-RO" sz="3800" dirty="0" err="1">
                <a:latin typeface="Abadi" panose="020B0604020104020204" pitchFamily="34" charset="0"/>
              </a:rPr>
              <a:t>Layer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urmati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procesare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fiind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ponderate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1.55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creste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sensibilitatea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diagnosticului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US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Hidden Layers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Tipul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arhitecturii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 Deep Network,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configurata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simetric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3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straturi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cate 64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activare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Normalization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Aplicat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după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straturile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dense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stabiliza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procesul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învățare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reduce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timpul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antrenare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Dropout (0.2)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Aplicat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preveni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fenomenul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overfitting.</a:t>
            </a:r>
          </a:p>
          <a:p>
            <a:pPr>
              <a:spcAft>
                <a:spcPts val="600"/>
              </a:spcAft>
            </a:pP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US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Layer</a:t>
            </a: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it-IT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neuron cu activare Sigmoid:</a:t>
            </a:r>
            <a:r>
              <a:rPr lang="it-IT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Produce un scor probabilistic între 0 și 1.</a:t>
            </a: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it-IT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0: Diagnostic de </a:t>
            </a:r>
            <a:r>
              <a:rPr lang="en-US" alt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alt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 Diagnostic de </a:t>
            </a:r>
            <a:r>
              <a:rPr lang="en-US" alt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TBC</a:t>
            </a:r>
            <a:r>
              <a:rPr lang="en-US" alt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Funcția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pierdere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(Loss):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binary_crossentropy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folosita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masura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 de bine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reteaua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Optimizer: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Adam cu un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learning_rate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=0.0005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convergență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fină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stabilă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5945C70-BADD-7508-1717-148FCFFDE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470" y="1267168"/>
            <a:ext cx="3971633" cy="20295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357139E-024D-0648-2864-586B210FE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575" y="3627123"/>
            <a:ext cx="4335425" cy="25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51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910BC-8EE7-AFD1-5120-7A93ADF0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DCF60-3567-5D7A-9189-CBF5CB73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82" y="296634"/>
            <a:ext cx="11090275" cy="596720"/>
          </a:xfrm>
          <a:noFill/>
        </p:spPr>
        <p:txBody>
          <a:bodyPr anchor="t"/>
          <a:lstStyle/>
          <a:p>
            <a:pPr marL="326946"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VII. </a:t>
            </a:r>
            <a:r>
              <a:rPr lang="en-US" sz="3200" kern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Procesul</a:t>
            </a:r>
            <a:r>
              <a:rPr lang="en-US" sz="3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200" kern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Antrenare</a:t>
            </a:r>
            <a:endParaRPr lang="en-US" sz="3200" kern="1200" spc="215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1AEB3-B517-6818-B501-36099C5DB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991" y="867171"/>
            <a:ext cx="3746105" cy="298360"/>
          </a:xfrm>
        </p:spPr>
        <p:txBody>
          <a:bodyPr>
            <a:normAutofit/>
          </a:bodyPr>
          <a:lstStyle/>
          <a:p>
            <a:r>
              <a:rPr lang="ro-RO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de Date: processed.csv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A4A61-8353-0B7B-F1CC-1E6FEB6A7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15" y="1283879"/>
            <a:ext cx="4746131" cy="1268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8AD72B-CAD2-67BD-DB9B-49E65B1B1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82" y="3523050"/>
            <a:ext cx="3360606" cy="748286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0C82506-58BF-02B5-2D73-C0568EC9D392}"/>
              </a:ext>
            </a:extLst>
          </p:cNvPr>
          <p:cNvSpPr txBox="1">
            <a:spLocks/>
          </p:cNvSpPr>
          <p:nvPr/>
        </p:nvSpPr>
        <p:spPr>
          <a:xfrm>
            <a:off x="484616" y="2796823"/>
            <a:ext cx="5558127" cy="3992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Maparea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răspunsurilor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subiective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intervalul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unitar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[0, 1]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294F83-DF3C-D0EF-9A56-39CCD916D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5" y="5425257"/>
            <a:ext cx="7516563" cy="7482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43739C-3583-076A-969D-06F7F355EF73}"/>
              </a:ext>
            </a:extLst>
          </p:cNvPr>
          <p:cNvSpPr txBox="1"/>
          <p:nvPr/>
        </p:nvSpPr>
        <p:spPr>
          <a:xfrm>
            <a:off x="484616" y="4515961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stopping: Evita overfitting-ul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optimizeaza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un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numar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epoci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50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batch size: 32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ACE30C-ED3C-3EBC-2870-5A1BCB674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927" y="1140163"/>
            <a:ext cx="459169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677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66E90-7B82-6615-432D-B87E86F8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6F6146E-6788-4AF7-A775-99E5CB71E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04" y="5492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E8004FE-5E5E-BEFE-28CA-05B410FF9FF4}"/>
              </a:ext>
            </a:extLst>
          </p:cNvPr>
          <p:cNvSpPr txBox="1"/>
          <p:nvPr/>
        </p:nvSpPr>
        <p:spPr>
          <a:xfrm>
            <a:off x="550864" y="549275"/>
            <a:ext cx="5437186" cy="9848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pPr marL="217975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</a:pP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VII.</a:t>
            </a:r>
            <a:r>
              <a:rPr lang="en-US" sz="3200" spc="143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Procesul</a:t>
            </a:r>
            <a:r>
              <a:rPr lang="en-US" sz="3200" spc="14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de </a:t>
            </a:r>
            <a:r>
              <a:rPr lang="en-US" sz="3200" spc="143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Preprocesare</a:t>
            </a:r>
            <a:r>
              <a:rPr lang="en-US" sz="3200" spc="14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a </a:t>
            </a:r>
            <a:r>
              <a:rPr lang="en-US" sz="3200" spc="143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Datelor</a:t>
            </a:r>
            <a:endParaRPr lang="en-US" sz="3200" spc="14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FB3398F-FC83-4BB4-A9BB-9224C3369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V="1">
            <a:off x="2279869" y="6105227"/>
            <a:ext cx="871729" cy="824667"/>
          </a:xfrm>
          <a:custGeom>
            <a:avLst/>
            <a:gdLst>
              <a:gd name="connsiteX0" fmla="*/ 871729 w 871729"/>
              <a:gd name="connsiteY0" fmla="*/ 824667 h 824667"/>
              <a:gd name="connsiteX1" fmla="*/ 386600 w 871729"/>
              <a:gd name="connsiteY1" fmla="*/ 9564 h 824667"/>
              <a:gd name="connsiteX2" fmla="*/ 366745 w 871729"/>
              <a:gd name="connsiteY2" fmla="*/ 0 h 824667"/>
              <a:gd name="connsiteX3" fmla="*/ 0 w 871729"/>
              <a:gd name="connsiteY3" fmla="*/ 366745 h 824667"/>
              <a:gd name="connsiteX4" fmla="*/ 38154 w 871729"/>
              <a:gd name="connsiteY4" fmla="*/ 370591 h 824667"/>
              <a:gd name="connsiteX5" fmla="*/ 408236 w 871729"/>
              <a:gd name="connsiteY5" fmla="*/ 824667 h 824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1729" h="824667">
                <a:moveTo>
                  <a:pt x="871729" y="824667"/>
                </a:moveTo>
                <a:cubicBezTo>
                  <a:pt x="871729" y="472695"/>
                  <a:pt x="675564" y="166539"/>
                  <a:pt x="386600" y="9564"/>
                </a:cubicBezTo>
                <a:lnTo>
                  <a:pt x="366745" y="0"/>
                </a:lnTo>
                <a:lnTo>
                  <a:pt x="0" y="366745"/>
                </a:lnTo>
                <a:lnTo>
                  <a:pt x="38154" y="370591"/>
                </a:lnTo>
                <a:cubicBezTo>
                  <a:pt x="249360" y="413810"/>
                  <a:pt x="408236" y="600685"/>
                  <a:pt x="408236" y="824667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innerShdw blurRad="254000" dist="50800" dir="16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8B9BDAC-6C86-465B-B392-FBF5ECE77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 flipV="1">
            <a:off x="2512389" y="5847995"/>
            <a:ext cx="107098" cy="466589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E55BC24-AFCA-DC60-F112-B999FF8C8905}"/>
              </a:ext>
            </a:extLst>
          </p:cNvPr>
          <p:cNvSpPr txBox="1"/>
          <p:nvPr/>
        </p:nvSpPr>
        <p:spPr>
          <a:xfrm>
            <a:off x="550863" y="1858298"/>
            <a:ext cx="5977756" cy="4234528"/>
          </a:xfrm>
          <a:prstGeom prst="rect">
            <a:avLst/>
          </a:prstGeom>
        </p:spPr>
        <p:txBody>
          <a:bodyPr vert="horz" wrap="square" lIns="0" tIns="0" rIns="0" bIns="0" rtlCol="0" anchor="t">
            <a:normAutofit lnSpcReduction="10000"/>
          </a:bodyPr>
          <a:lstStyle/>
          <a:p>
            <a:pPr>
              <a:spcAft>
                <a:spcPts val="800"/>
              </a:spcAft>
            </a:pP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reprezintă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preprocesarea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7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>
              <a:spcAft>
                <a:spcPts val="800"/>
              </a:spcAft>
            </a:pP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Preprocesarea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pas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esențial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dezvoltarea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AI,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deoarece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bazele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calitatii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compatibilitatii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antrenare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aceasta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am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dezvoltat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30.000 de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eșantioane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plecand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 un set de reguli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Prin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utilizarea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logic_chance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”, am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asigurat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reflectă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atât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evolutie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standard,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cât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dificile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oferind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rețelei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set de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antrenament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diversificat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echilibrat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🛠 </a:t>
            </a:r>
            <a:r>
              <a:rPr lang="en-US" sz="16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Etapele</a:t>
            </a:r>
            <a:r>
              <a:rPr lang="en-US" sz="16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Preprocesării</a:t>
            </a:r>
            <a:r>
              <a:rPr lang="en-US" sz="16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endParaRPr lang="en-US" sz="1600" b="1" dirty="0">
              <a:solidFill>
                <a:schemeClr val="tx1">
                  <a:alpha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800" b="1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1️⃣ </a:t>
            </a:r>
            <a:r>
              <a:rPr lang="en-US" sz="16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Colectarea</a:t>
            </a:r>
            <a:r>
              <a:rPr lang="en-US" sz="16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Încărcarea</a:t>
            </a:r>
            <a:r>
              <a:rPr lang="en-US" sz="16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endParaRPr lang="en-US" sz="1600" dirty="0">
              <a:solidFill>
                <a:schemeClr val="tx1">
                  <a:alpha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4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Sursa: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Scriptul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generate.py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deosebire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un set de date static, am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generator care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utilizează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4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hartă</a:t>
            </a:r>
            <a:r>
              <a:rPr lang="en-US" sz="1400" b="1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logic_map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întrebare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(Q1-Q20) are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raspunsuri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etichete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associate care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favorizează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fie pneumonia (P), fie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(T).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Am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introdus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"factor de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haos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(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is_chaotic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de 35%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pacienții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prezintă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atipice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forțând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astfel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rețeaua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învețe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pattern-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uri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complexe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nu </a:t>
            </a:r>
            <a:r>
              <a:rPr lang="en-US" sz="1400" dirty="0" err="1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doar</a:t>
            </a:r>
            <a:r>
              <a:rPr lang="en-US" sz="1400" dirty="0">
                <a:solidFill>
                  <a:schemeClr val="tx1"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reguli fixe.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2E9B0C-D147-8AA3-E31C-820855317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192" y="587922"/>
            <a:ext cx="2312265" cy="2879726"/>
          </a:xfrm>
          <a:custGeom>
            <a:avLst/>
            <a:gdLst/>
            <a:ahLst/>
            <a:cxnLst/>
            <a:rect l="l" t="t" r="r" b="b"/>
            <a:pathLst>
              <a:path w="2434045" h="2435676">
                <a:moveTo>
                  <a:pt x="0" y="0"/>
                </a:moveTo>
                <a:lnTo>
                  <a:pt x="2434045" y="0"/>
                </a:lnTo>
                <a:lnTo>
                  <a:pt x="2434045" y="2435676"/>
                </a:lnTo>
                <a:lnTo>
                  <a:pt x="0" y="2435676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17F01A-FDF5-7562-23ED-A41608809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926" y="3726976"/>
            <a:ext cx="3412050" cy="2354313"/>
          </a:xfrm>
          <a:custGeom>
            <a:avLst/>
            <a:gdLst/>
            <a:ahLst/>
            <a:cxnLst/>
            <a:rect l="l" t="t" r="r" b="b"/>
            <a:pathLst>
              <a:path w="5093106" h="3072225">
                <a:moveTo>
                  <a:pt x="0" y="0"/>
                </a:moveTo>
                <a:lnTo>
                  <a:pt x="5093106" y="0"/>
                </a:lnTo>
                <a:lnTo>
                  <a:pt x="5093106" y="3072225"/>
                </a:lnTo>
                <a:lnTo>
                  <a:pt x="0" y="30722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79003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D3A2-D6C9-A589-E5DD-DF7FFFBD1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4E0EB745-09A9-7D3C-6E9C-0303AA9A4EBF}"/>
              </a:ext>
            </a:extLst>
          </p:cNvPr>
          <p:cNvSpPr txBox="1"/>
          <p:nvPr/>
        </p:nvSpPr>
        <p:spPr>
          <a:xfrm>
            <a:off x="469180" y="4818505"/>
            <a:ext cx="5932634" cy="165290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4️⃣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Impartirea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Echilibrare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(Balancing):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câte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15.000 de </a:t>
            </a:r>
            <a:r>
              <a:rPr lang="en-US" alt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afecțiune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(total 30.000),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prevenind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astfel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bias-ul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către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anumită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boală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Validarea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Integrității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Scriptul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asigură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că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setul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20 de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răspunsuri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eliminând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riscul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valorilor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lipsă</a:t>
            </a: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90000"/>
              </a:lnSpc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DE703A7-F5F6-F711-F9B7-3EDDF93564CF}"/>
              </a:ext>
            </a:extLst>
          </p:cNvPr>
          <p:cNvSpPr txBox="1"/>
          <p:nvPr/>
        </p:nvSpPr>
        <p:spPr>
          <a:xfrm>
            <a:off x="550863" y="2234102"/>
            <a:ext cx="5437187" cy="3858724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alpha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1CF8B6-31EC-812C-B39A-D0965971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526" y="4934792"/>
            <a:ext cx="4630850" cy="31845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14D1A2-58E1-0FA1-7A57-948E682225DB}"/>
              </a:ext>
            </a:extLst>
          </p:cNvPr>
          <p:cNvSpPr txBox="1"/>
          <p:nvPr/>
        </p:nvSpPr>
        <p:spPr>
          <a:xfrm>
            <a:off x="387497" y="2306321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3️⃣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Ponderarea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variabilele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p_heavy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 Q10 -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musculara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Q13-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abdominale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Q18 –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ganglioni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inflamati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t_heavy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Q15 -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scădere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greutate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Q16 -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sânge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tuse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Probabilitate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 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șansă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apariție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85%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lor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oferind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de diagnostic, similar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un medic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prioritizează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anumite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6557F7B-3F03-7BC4-59ED-0AA0F7077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526" y="2705701"/>
            <a:ext cx="4048690" cy="64779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F9156C7-4E8C-CA99-F632-E13577B962A7}"/>
              </a:ext>
            </a:extLst>
          </p:cNvPr>
          <p:cNvSpPr txBox="1"/>
          <p:nvPr/>
        </p:nvSpPr>
        <p:spPr>
          <a:xfrm>
            <a:off x="408624" y="657622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2️⃣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Curatarea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Transformarea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Valorilor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Răspunsurile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sunt generate pe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scara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1-5.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Codificarea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Etichetei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convertit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format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fiind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acceptat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funcția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pierdere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binary_crossentropy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CE71CFE-F5EC-E619-7261-7D307A7B7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700" y="821191"/>
            <a:ext cx="4910823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49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227FB-B517-FECC-2C78-40A9312C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57AF70BB-C27E-457B-3D1A-D05D283F0695}"/>
              </a:ext>
            </a:extLst>
          </p:cNvPr>
          <p:cNvSpPr txBox="1"/>
          <p:nvPr/>
        </p:nvSpPr>
        <p:spPr>
          <a:xfrm>
            <a:off x="120936" y="642572"/>
            <a:ext cx="10769600" cy="377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7975" lvl="1">
              <a:lnSpc>
                <a:spcPts val="2827"/>
              </a:lnSpc>
            </a:pPr>
            <a:r>
              <a:rPr lang="ro-RO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VIII.</a:t>
            </a:r>
            <a:r>
              <a:rPr lang="it-IT" sz="3200" spc="14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it-IT" sz="3200" spc="143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Dezvoltarea Interfetei Streamlit</a:t>
            </a:r>
            <a:endParaRPr lang="ro-RO" sz="3200" spc="143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68F44F3-7932-F311-A06B-C36055906DDC}"/>
              </a:ext>
            </a:extLst>
          </p:cNvPr>
          <p:cNvSpPr txBox="1"/>
          <p:nvPr/>
        </p:nvSpPr>
        <p:spPr>
          <a:xfrm>
            <a:off x="344285" y="1424399"/>
            <a:ext cx="6422337" cy="6073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o-RO" sz="2133" b="1" dirty="0">
                <a:solidFill>
                  <a:schemeClr val="bg1"/>
                </a:solidFill>
                <a:latin typeface="Abadi" panose="020B0604020104020204" pitchFamily="34" charset="0"/>
              </a:rPr>
              <a:t>📌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 este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Interfața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ce este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importantă</a:t>
            </a:r>
            <a:r>
              <a:rPr lang="fr-FR" sz="2400" dirty="0"/>
              <a:t>?</a:t>
            </a:r>
            <a:r>
              <a:rPr lang="en-US" sz="1600" dirty="0"/>
              <a:t> </a:t>
            </a:r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Aceasta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responsabilă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colectarea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semnelor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lor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diagnostic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prezumtiv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facilitând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pacienților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real.</a:t>
            </a:r>
          </a:p>
          <a:p>
            <a:endParaRPr lang="ro-RO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ro-RO" sz="2133" b="1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1️⃣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Inițializarea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Încărcarea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Resurselor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1333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Funcționalitate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deosebire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un server web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aplicația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încarcă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optimized_model.keras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configurația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scaler-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scaler_optimized.skl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2️⃣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Colectarea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Simptomatologie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Identificare:</a:t>
            </a:r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Solicită numele pacientului pentru trasabilitate medicală.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Chestionarul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Cele 20 de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întrebări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sunt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două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coloane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intuitive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impreuna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raspunsurile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reprezentate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valorile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selectate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utilizator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"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Moderată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 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B60010-AF5E-E446-850A-E80F36A02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267" y="4954378"/>
            <a:ext cx="5097033" cy="628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7B76E0-7AE1-3927-23C9-547262C43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266" y="2241755"/>
            <a:ext cx="5097034" cy="2052172"/>
          </a:xfrm>
          <a:prstGeom prst="rect">
            <a:avLst/>
          </a:prstGeom>
        </p:spPr>
      </p:pic>
      <p:pic>
        <p:nvPicPr>
          <p:cNvPr id="2" name="Content Placeholder 18">
            <a:extLst>
              <a:ext uri="{FF2B5EF4-FFF2-40B4-BE49-F238E27FC236}">
                <a16:creationId xmlns:a16="http://schemas.microsoft.com/office/drawing/2014/main" id="{DDBF18A8-602A-0206-F3F0-761BBF1C9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094" y="1563527"/>
            <a:ext cx="4932727" cy="51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60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5FEBE2-4251-A4E5-2850-C7A5242C9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760" y="845296"/>
            <a:ext cx="5628640" cy="207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3️⃣ 💾 </a:t>
            </a:r>
            <a:r>
              <a:rPr lang="en-US" dirty="0" err="1"/>
              <a:t>Modulul</a:t>
            </a:r>
            <a:r>
              <a:rPr lang="en-US" dirty="0"/>
              <a:t> de </a:t>
            </a:r>
            <a:r>
              <a:rPr lang="en-US" dirty="0" err="1"/>
              <a:t>Istoric</a:t>
            </a:r>
            <a:endParaRPr lang="en-US" dirty="0"/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trasabilitatea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Funcționalitate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diagnostic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salvat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automat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istoric_triaj.csv.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stocate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Timestamp-ul exact,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sugerat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încredere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răspunsuri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brute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revizuirea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ulterioara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EDB2C-F14B-9656-1CEC-0A797B3FF5ED}"/>
              </a:ext>
            </a:extLst>
          </p:cNvPr>
          <p:cNvSpPr txBox="1"/>
          <p:nvPr/>
        </p:nvSpPr>
        <p:spPr>
          <a:xfrm>
            <a:off x="568960" y="36247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4️⃣ 📊 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Vizualizarea Rationamentului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3E88B8-E069-0198-D4D6-4DF1EC1F5657}"/>
              </a:ext>
            </a:extLst>
          </p:cNvPr>
          <p:cNvSpPr txBox="1"/>
          <p:nvPr/>
        </p:nvSpPr>
        <p:spPr>
          <a:xfrm>
            <a:off x="619760" y="4042826"/>
            <a:ext cx="49479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Aplicația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include un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grafic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impact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Plotly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vizualiza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rezultatelor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Impactului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Calculează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influența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fiecărui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cadrul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probabilitatii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utilizatorului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vadă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sangele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scaderea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greutate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au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cântărit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183150-D4FD-58C9-05D7-8170076D5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280" y="3732200"/>
            <a:ext cx="5699760" cy="2002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A8C8F-EC6C-16F3-E061-58734746F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" y="2936424"/>
            <a:ext cx="9535856" cy="36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79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46CC8-29B5-84D4-12A0-11B753B9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08A93C3-FA23-4B5D-E29A-2CB153A1EA0D}"/>
              </a:ext>
            </a:extLst>
          </p:cNvPr>
          <p:cNvSpPr txBox="1"/>
          <p:nvPr/>
        </p:nvSpPr>
        <p:spPr>
          <a:xfrm>
            <a:off x="0" y="219548"/>
            <a:ext cx="10769600" cy="377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7975" lvl="1">
              <a:lnSpc>
                <a:spcPts val="2827"/>
              </a:lnSpc>
            </a:pPr>
            <a:r>
              <a:rPr lang="ro-RO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IX.</a:t>
            </a:r>
            <a:r>
              <a:rPr lang="it-IT" sz="3200" spc="14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r>
              <a:rPr lang="it-IT" sz="3200" spc="143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Testare, Simulare și Evaluare</a:t>
            </a:r>
            <a:endParaRPr lang="ro-RO" sz="3200" spc="143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5F101D0-151C-39FA-F543-8E4F3379C296}"/>
              </a:ext>
            </a:extLst>
          </p:cNvPr>
          <p:cNvSpPr txBox="1"/>
          <p:nvPr/>
        </p:nvSpPr>
        <p:spPr>
          <a:xfrm>
            <a:off x="262855" y="765290"/>
            <a:ext cx="6777042" cy="5837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o-RO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reprezintă testarea și evaluarea modelului AI?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După ce modelul de Rețea Neuronală a fost antrenat, acesta trebuie testat și evaluat pentru a verifica precizia predicțiilor și pentru a îmbunătăți performanța. Testarea se face pe date nevăzute anterior pentru a analiza cât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bine generalizează modelul</a:t>
            </a:r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 </a:t>
            </a:r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Etapele Testării și Evaluării 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1️⃣ Preprocesarea și pregătirea datelor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Înainte de testare, datele sunt transformate pentru a putea fi utilizate de model.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r>
              <a:rPr lang="en-US" sz="1600" b="1" dirty="0">
                <a:latin typeface="Abadi" panose="020B0604020104020204" pitchFamily="34" charset="0"/>
              </a:rPr>
              <a:t>2️⃣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Salvarea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ncărcarea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odelului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estare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încarcă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fișierul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optimized_model.keras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fișierul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scaler_optimized.skl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Scop: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salvat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predicții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rapide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latență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35ms)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fără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reantrena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rețeaua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Abadi" panose="020B0604020104020204" pitchFamily="34" charset="0"/>
              </a:rPr>
              <a:t>3️⃣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Predicțiilor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Salvarea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Rezultatelor</a:t>
            </a:r>
            <a:endParaRPr lang="ro-RO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Când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utilizatorul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chestionar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sunt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obține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ro-RO" sz="1333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90ECD4-F70B-96F4-793C-7C3617CB4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266" y="278637"/>
            <a:ext cx="3240033" cy="28109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91D17E-E7EE-3188-6C1E-F04863795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864" y="3148689"/>
            <a:ext cx="4148491" cy="333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57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508EC-F354-4A34-FEDA-5571BCD0C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8C07FD47-2F9F-2B0D-8F6F-66791367EDAF}"/>
              </a:ext>
            </a:extLst>
          </p:cNvPr>
          <p:cNvSpPr txBox="1"/>
          <p:nvPr/>
        </p:nvSpPr>
        <p:spPr>
          <a:xfrm>
            <a:off x="338258" y="812029"/>
            <a:ext cx="6731664" cy="2380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4️⃣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Evaluarea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Performanței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endParaRPr lang="ro-RO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📌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Adăugarea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script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precizia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predicțiilor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evaluate.py.</a:t>
            </a:r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Rezultate în urma testării,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antrenării și evaluării modelului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	</a:t>
            </a:r>
          </a:p>
          <a:p>
            <a:endParaRPr lang="en-US" sz="1333" dirty="0">
              <a:solidFill>
                <a:schemeClr val="bg1"/>
              </a:solidFill>
            </a:endParaRPr>
          </a:p>
          <a:p>
            <a:endParaRPr lang="ro-RO" sz="1333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0529CC-DEDD-1909-5D79-838620E865B3}"/>
              </a:ext>
            </a:extLst>
          </p:cNvPr>
          <p:cNvSpPr txBox="1"/>
          <p:nvPr/>
        </p:nvSpPr>
        <p:spPr>
          <a:xfrm>
            <a:off x="7668470" y="511029"/>
            <a:ext cx="2641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Concluzie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o-RO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poate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ro-RO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îmbunățire</a:t>
            </a:r>
            <a:r>
              <a:rPr lang="ro-RO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destul de mare în urma rulării mai multor date a rezultatelor prezise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8D37EB-8ECD-F78D-0027-9E158524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58" y="2345194"/>
            <a:ext cx="5380779" cy="2167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D76063-B5B0-ADB5-045A-E91F51B59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905" y="2345194"/>
            <a:ext cx="5261837" cy="21676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BFEA60-D8D8-591C-B7C3-73245C588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58" y="4855965"/>
            <a:ext cx="5380779" cy="5497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0C640C-EF5E-FE03-000E-B0AF7F6E7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905" y="4806632"/>
            <a:ext cx="5261837" cy="59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18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C5EFCE-16C9-226D-8189-C11A95416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61" y="2765220"/>
            <a:ext cx="4940096" cy="192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F708D8-8D02-5FC3-CC03-FA94FCD6A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608" y="2773211"/>
            <a:ext cx="3250796" cy="1913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30A18D-7515-5F65-EE2E-0927189CC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61" y="5118510"/>
            <a:ext cx="4940096" cy="174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A2B53C-B0DA-2898-6A72-3E8BF99D6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61" y="5556598"/>
            <a:ext cx="5043654" cy="1193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55CC15-308C-9A04-20B4-FA0F471A2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62" y="5343100"/>
            <a:ext cx="4940096" cy="123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753A67-2086-4B87-63CE-544BE9C501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862" y="5730440"/>
            <a:ext cx="4940096" cy="1538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1A297D-A1F8-15BE-FE33-83683F0CD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058" y="5118510"/>
            <a:ext cx="4940096" cy="17449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910AE5-0FB4-54D0-309E-5052607C11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1058" y="5426807"/>
            <a:ext cx="4940096" cy="1333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79E4D52-FF10-8D9C-43F0-F031157D4C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1058" y="5666604"/>
            <a:ext cx="4999448" cy="145363"/>
          </a:xfrm>
          <a:prstGeom prst="rect">
            <a:avLst/>
          </a:prstGeom>
        </p:spPr>
      </p:pic>
      <p:sp>
        <p:nvSpPr>
          <p:cNvPr id="24" name="TextBox 10">
            <a:extLst>
              <a:ext uri="{FF2B5EF4-FFF2-40B4-BE49-F238E27FC236}">
                <a16:creationId xmlns:a16="http://schemas.microsoft.com/office/drawing/2014/main" id="{FF40CFE8-B978-A60D-A64B-6C64AEEC8175}"/>
              </a:ext>
            </a:extLst>
          </p:cNvPr>
          <p:cNvSpPr txBox="1"/>
          <p:nvPr/>
        </p:nvSpPr>
        <p:spPr>
          <a:xfrm>
            <a:off x="579861" y="897179"/>
            <a:ext cx="6731664" cy="2903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predictiilor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eronate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Confuzia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preponderent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imita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intrebarilor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tuberculozei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Astfel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prioritizeze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siguranta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detrimentul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tuberculoza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fiind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periculoasa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aceasta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ro-RO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	</a:t>
            </a:r>
          </a:p>
          <a:p>
            <a:endParaRPr lang="en-US" sz="1333" dirty="0">
              <a:solidFill>
                <a:schemeClr val="bg1"/>
              </a:solidFill>
            </a:endParaRPr>
          </a:p>
          <a:p>
            <a:endParaRPr lang="ro-RO" sz="1333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87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80508D1A-1C90-BCBF-FFC5-71EE77EF1512}"/>
              </a:ext>
            </a:extLst>
          </p:cNvPr>
          <p:cNvSpPr txBox="1"/>
          <p:nvPr/>
        </p:nvSpPr>
        <p:spPr>
          <a:xfrm>
            <a:off x="239428" y="469292"/>
            <a:ext cx="5149969" cy="512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6946" lvl="1" algn="l">
              <a:lnSpc>
                <a:spcPts val="4240"/>
              </a:lnSpc>
            </a:pPr>
            <a:r>
              <a:rPr lang="ro-RO" sz="3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ro-RO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Limitări și Provocări</a:t>
            </a:r>
            <a:r>
              <a:rPr lang="it-IT" sz="3200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lacial Indifference"/>
              </a:rPr>
              <a:t> </a:t>
            </a:r>
            <a:endParaRPr lang="ro-RO" sz="3200" spc="215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8A024-FE54-CED9-CB0B-9FC3F5148494}"/>
              </a:ext>
            </a:extLst>
          </p:cNvPr>
          <p:cNvSpPr txBox="1"/>
          <p:nvPr/>
        </p:nvSpPr>
        <p:spPr>
          <a:xfrm>
            <a:off x="366612" y="1166278"/>
            <a:ext cx="60946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De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sunt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limitările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Chiar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dacă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obține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acuratețe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82.73%,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medical real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prezintă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imprevizibile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pot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afecta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BAC354-E58A-8574-CD40-FEDFE597BF88}"/>
              </a:ext>
            </a:extLst>
          </p:cNvPr>
          <p:cNvSpPr txBox="1"/>
          <p:nvPr/>
        </p:nvSpPr>
        <p:spPr>
          <a:xfrm>
            <a:off x="366612" y="2223515"/>
            <a:ext cx="609460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Datelor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Diversitatea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Clinică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🚩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Provocare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date simulate care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urmează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pattern-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realitate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pacienții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prezenta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asociate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un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astm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cronic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situație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nesimulată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actual.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Soluție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Extinderea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bazei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date cu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cazuri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„negative”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crește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specificitatea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0622EE-F011-5F79-D97A-AF8E2E6B56AB}"/>
              </a:ext>
            </a:extLst>
          </p:cNvPr>
          <p:cNvSpPr txBox="1"/>
          <p:nvPr/>
        </p:nvSpPr>
        <p:spPr>
          <a:xfrm>
            <a:off x="365214" y="4224064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Sensibilitatea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Erori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Input (Noise)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🚩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Provocare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Zgomotul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statistic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întrebări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s-au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dovedit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fi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putin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ambele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dureri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musculare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Prezența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trăsăturilor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mica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diferentiere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poate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confuzie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straturile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ascunse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rețelei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Soluție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Aplicarea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Selection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riguros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înainte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zgomotul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din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chestionar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54D03-AD6E-73D9-BA62-FEBC79DE6C4B}"/>
              </a:ext>
            </a:extLst>
          </p:cNvPr>
          <p:cNvSpPr txBox="1"/>
          <p:nvPr/>
        </p:nvSpPr>
        <p:spPr>
          <a:xfrm>
            <a:off x="6461214" y="2018868"/>
            <a:ext cx="557347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Riscul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Diagnosticului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„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Oglindă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🚩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Provocare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afecțiuni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(ex. COVID-19) care nu fac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antrenament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boală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respiratorie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eronat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drept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bolnav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TBC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deoarece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 are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cunostintele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necesare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spune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„Nu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știu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afecțiune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🛠️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Soluție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prag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incertitudine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Dacă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probabilitatea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între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0.45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0.55,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recomande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consult medical urgent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loc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diagnostic.</a:t>
            </a:r>
          </a:p>
        </p:txBody>
      </p:sp>
    </p:spTree>
    <p:extLst>
      <p:ext uri="{BB962C8B-B14F-4D97-AF65-F5344CB8AC3E}">
        <p14:creationId xmlns:p14="http://schemas.microsoft.com/office/powerpoint/2010/main" val="612363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9032AA-B22B-4013-5040-E5355BE7B7EA}"/>
              </a:ext>
            </a:extLst>
          </p:cNvPr>
          <p:cNvSpPr txBox="1"/>
          <p:nvPr/>
        </p:nvSpPr>
        <p:spPr>
          <a:xfrm>
            <a:off x="622883" y="251562"/>
            <a:ext cx="609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XI.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Discuții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Concluzii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EA0CC-C6FE-66B5-F178-7BE07C7C1CFC}"/>
              </a:ext>
            </a:extLst>
          </p:cNvPr>
          <p:cNvSpPr txBox="1"/>
          <p:nvPr/>
        </p:nvSpPr>
        <p:spPr>
          <a:xfrm>
            <a:off x="404769" y="1146437"/>
            <a:ext cx="609460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📌 Ce am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dirty="0"/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expert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rețele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neuronale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MLP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capacitate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ridicată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diferenția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respiratorii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(TBC vs.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pneumonie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Prin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arhitecturii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tehnicilor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instrument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atingând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toți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indicatorii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performanță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5E2A6B-F4B9-86C0-5371-21DAC0EBCAB3}"/>
              </a:ext>
            </a:extLst>
          </p:cNvPr>
          <p:cNvSpPr txBox="1"/>
          <p:nvPr/>
        </p:nvSpPr>
        <p:spPr>
          <a:xfrm>
            <a:off x="7350853" y="1610842"/>
            <a:ext cx="3563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Evaluare</a:t>
            </a:r>
            <a:r>
              <a:rPr lang="en-US" dirty="0"/>
              <a:t> </a:t>
            </a:r>
            <a:r>
              <a:rPr lang="en-US" dirty="0" err="1"/>
              <a:t>Performanță</a:t>
            </a:r>
            <a:r>
              <a:rPr lang="en-US" dirty="0"/>
              <a:t> vs. </a:t>
            </a:r>
            <a:r>
              <a:rPr lang="en-US" dirty="0" err="1"/>
              <a:t>Obiective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72F3AE-8A18-A29A-9F5B-D4B3D0F50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985699"/>
              </p:ext>
            </p:extLst>
          </p:nvPr>
        </p:nvGraphicFramePr>
        <p:xfrm>
          <a:off x="7144274" y="2351571"/>
          <a:ext cx="4526616" cy="2249926"/>
        </p:xfrm>
        <a:graphic>
          <a:graphicData uri="http://schemas.openxmlformats.org/drawingml/2006/table">
            <a:tbl>
              <a:tblPr/>
              <a:tblGrid>
                <a:gridCol w="1131654">
                  <a:extLst>
                    <a:ext uri="{9D8B030D-6E8A-4147-A177-3AD203B41FA5}">
                      <a16:colId xmlns:a16="http://schemas.microsoft.com/office/drawing/2014/main" val="3331073335"/>
                    </a:ext>
                  </a:extLst>
                </a:gridCol>
                <a:gridCol w="1131654">
                  <a:extLst>
                    <a:ext uri="{9D8B030D-6E8A-4147-A177-3AD203B41FA5}">
                      <a16:colId xmlns:a16="http://schemas.microsoft.com/office/drawing/2014/main" val="3774677815"/>
                    </a:ext>
                  </a:extLst>
                </a:gridCol>
                <a:gridCol w="1131654">
                  <a:extLst>
                    <a:ext uri="{9D8B030D-6E8A-4147-A177-3AD203B41FA5}">
                      <a16:colId xmlns:a16="http://schemas.microsoft.com/office/drawing/2014/main" val="4192887704"/>
                    </a:ext>
                  </a:extLst>
                </a:gridCol>
                <a:gridCol w="1131654">
                  <a:extLst>
                    <a:ext uri="{9D8B030D-6E8A-4147-A177-3AD203B41FA5}">
                      <a16:colId xmlns:a16="http://schemas.microsoft.com/office/drawing/2014/main" val="590681995"/>
                    </a:ext>
                  </a:extLst>
                </a:gridCol>
              </a:tblGrid>
              <a:tr h="381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>
                          <a:effectLst/>
                          <a:latin typeface="Google Sans Text"/>
                        </a:rPr>
                        <a:t>Obiectiv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Target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Realizat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Status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090072"/>
                  </a:ext>
                </a:extLst>
              </a:tr>
              <a:tr h="668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Recall TBC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Google Sans Text"/>
                        </a:rPr>
                        <a:t>&gt;= 85%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85.95%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✓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755324"/>
                  </a:ext>
                </a:extLst>
              </a:tr>
              <a:tr h="668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Accuracy Test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Google Sans Text"/>
                        </a:rPr>
                        <a:t>&gt;=70%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Google Sans Text"/>
                        </a:rPr>
                        <a:t>82.73%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✓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13863"/>
                  </a:ext>
                </a:extLst>
              </a:tr>
              <a:tr h="531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Google Sans Text"/>
                        </a:rPr>
                        <a:t>F1-Score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Google Sans Text"/>
                        </a:rPr>
                        <a:t>&gt;= 0.65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Google Sans Text"/>
                        </a:rPr>
                        <a:t>0.8253</a:t>
                      </a:r>
                      <a:endParaRPr lang="en-US" sz="1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  <a:latin typeface="Google Sans Text"/>
                        </a:rPr>
                        <a:t>✓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7374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A27889F-F81C-2745-C461-4190A1070EF6}"/>
              </a:ext>
            </a:extLst>
          </p:cNvPr>
          <p:cNvSpPr txBox="1"/>
          <p:nvPr/>
        </p:nvSpPr>
        <p:spPr>
          <a:xfrm>
            <a:off x="404769" y="3020944"/>
            <a:ext cx="60946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🛠️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Lecții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Învățate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Puncte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Cheie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Boosting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manuală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simptomelor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ancora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(Q10, Q13, Q15, Q16, Q18),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depășind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limitările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învățării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automate standard.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Eficiența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Callback-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urilor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Utilizarea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EarlyStopping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prevenit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ineficienta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invatarii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Trade-off-ul Precision-Recall: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prioritarizat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recall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ridicat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TBC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riscul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 rata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pacienți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8971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CB6562-AE54-3962-EF61-B89E576C13F2}"/>
              </a:ext>
            </a:extLst>
          </p:cNvPr>
          <p:cNvSpPr txBox="1"/>
          <p:nvPr/>
        </p:nvSpPr>
        <p:spPr>
          <a:xfrm>
            <a:off x="631272" y="511620"/>
            <a:ext cx="609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XII. Direcții de dezvoltare viitoare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8687E-8C3C-6143-ABE4-04AC9DCAD497}"/>
              </a:ext>
            </a:extLst>
          </p:cNvPr>
          <p:cNvSpPr txBox="1"/>
          <p:nvPr/>
        </p:nvSpPr>
        <p:spPr>
          <a:xfrm>
            <a:off x="631272" y="1555644"/>
            <a:ext cx="90436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Diversificarea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Setului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Date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Îmbunătățire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Colectarea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date „negative” din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patologii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bronșită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Beneficiu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Reducerea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alarme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false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eliminarea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zgomotului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statistic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A7C98-9264-1E0B-1E42-0E6C5DD2C66E}"/>
              </a:ext>
            </a:extLst>
          </p:cNvPr>
          <p:cNvSpPr txBox="1"/>
          <p:nvPr/>
        </p:nvSpPr>
        <p:spPr>
          <a:xfrm>
            <a:off x="702172" y="2917160"/>
            <a:ext cx="89727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Optimizarea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Îmbunătățire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variabil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explicabilitate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Beneficiu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Creșterea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încrederii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vizualizarea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raționamentului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fiecărei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decizii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0B4C6-F1C1-F88C-3FDA-38A1AD19CF74}"/>
              </a:ext>
            </a:extLst>
          </p:cNvPr>
          <p:cNvSpPr txBox="1"/>
          <p:nvPr/>
        </p:nvSpPr>
        <p:spPr>
          <a:xfrm>
            <a:off x="702172" y="5025477"/>
            <a:ext cx="90436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Integrare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Deployment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Îmbunătățire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aplicații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mobile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triaj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zone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izolate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Beneficiu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rapid la screening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populații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defavorizate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scurtând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până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tratament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1028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FC698A3-BDB9-4E04-371D-886E12C611D9}"/>
              </a:ext>
            </a:extLst>
          </p:cNvPr>
          <p:cNvSpPr txBox="1"/>
          <p:nvPr/>
        </p:nvSpPr>
        <p:spPr>
          <a:xfrm>
            <a:off x="683342" y="227781"/>
            <a:ext cx="9296400" cy="1000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ro-RO" sz="3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XIII.</a:t>
            </a:r>
            <a:r>
              <a:rPr lang="en-US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Resurse</a:t>
            </a:r>
            <a:r>
              <a:rPr lang="en-US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și</a:t>
            </a:r>
            <a:r>
              <a:rPr lang="en-US" sz="3200" spc="41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 </a:t>
            </a:r>
            <a:r>
              <a:rPr lang="en-US" sz="3200" spc="417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lata"/>
              </a:rPr>
              <a:t>Bibliografie</a:t>
            </a:r>
            <a:endParaRPr lang="en-US" sz="3200" spc="41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lat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BF54C-08BD-C77A-E7B7-E06746325979}"/>
              </a:ext>
            </a:extLst>
          </p:cNvPr>
          <p:cNvSpPr txBox="1"/>
          <p:nvPr/>
        </p:nvSpPr>
        <p:spPr>
          <a:xfrm>
            <a:off x="567813" y="1582340"/>
            <a:ext cx="972410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Goodfellow, I., Bengio, Y., &amp; Courville, A., Deep Learning, 2016.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https://www.deeplearningbook.org/</a:t>
            </a:r>
            <a:b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 Health Organization , Global Tuberculosis Report, (2025/2026). 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https://www.who.int/teams/global-programme-on-tuberculosis-and-lung-health/tb-reports</a:t>
            </a:r>
            <a:b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Amann, </a:t>
            </a:r>
            <a:r>
              <a:rPr lang="en-US" sz="1600" dirty="0" err="1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J.,Explainability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artificial intelligence in healthcare: a multidisciplinary perspective., 2020. 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https://pubmed.ncbi.nlm.nih.gov/33256715/</a:t>
            </a:r>
            <a:b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Documentation, Module: </a:t>
            </a:r>
            <a:r>
              <a:rPr lang="en-US" sz="1600" dirty="0" err="1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tf.keras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 tensorflow.org/</a:t>
            </a:r>
            <a:r>
              <a:rPr lang="en-US" sz="1600" dirty="0" err="1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api_docs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Scikit-learn Documentation, Model evaluation: quantifying the quality of predictions, 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https://scikit-learn.org/stable/modules/model_evaluation.html</a:t>
            </a:r>
            <a:b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</a:t>
            </a:r>
            <a:r>
              <a:rPr lang="en-US" sz="1600" dirty="0" err="1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Exemple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format:**</a:t>
            </a:r>
            <a:b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Abaza, B., 2025. AI-Driven Dynamic Covariance for ROS 2 Mobile Robot Localization. Sensors, 25, 3026. 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https://doi.org/10.3390/s25103026</a:t>
            </a:r>
            <a:b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dirty="0" err="1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sz="1600" dirty="0">
                <a:solidFill>
                  <a:srgbClr val="BCBE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Documentation, 2024. Getting Started Guide. </a:t>
            </a:r>
            <a:r>
              <a:rPr lang="en-US" sz="1600" dirty="0">
                <a:solidFill>
                  <a:srgbClr val="56A8F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https://keras.io/getting_started/</a:t>
            </a:r>
            <a:endParaRPr lang="en-US" sz="1600" dirty="0">
              <a:solidFill>
                <a:srgbClr val="BCBEC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365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0"/>
            <a:ext cx="5772606" cy="3391103"/>
          </a:xfrm>
          <a:noFill/>
        </p:spPr>
        <p:txBody>
          <a:bodyPr anchor="b">
            <a:normAutofit/>
          </a:bodyPr>
          <a:lstStyle/>
          <a:p>
            <a:r>
              <a:rPr lang="en-US" sz="7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Multumesc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Ivan Iosif-Sebastian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iosif.ivan0602@stud.fiir.upb.ro</a:t>
            </a:r>
          </a:p>
        </p:txBody>
      </p:sp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/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 float design</Template>
  <TotalTime>1012</TotalTime>
  <Words>2801</Words>
  <Application>Microsoft Office PowerPoint</Application>
  <PresentationFormat>Widescreen</PresentationFormat>
  <Paragraphs>248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Abadi</vt:lpstr>
      <vt:lpstr>Arial</vt:lpstr>
      <vt:lpstr>Calibri</vt:lpstr>
      <vt:lpstr>Gill Sans MT</vt:lpstr>
      <vt:lpstr>Glacial Indifference</vt:lpstr>
      <vt:lpstr>Google Sans Text</vt:lpstr>
      <vt:lpstr>JetBrains Mono</vt:lpstr>
      <vt:lpstr>Walbaum Display</vt:lpstr>
      <vt:lpstr>3DFloatVTI</vt:lpstr>
      <vt:lpstr> Sistem cu inteligență artificială (SIA)   Diagnosticare si Triaj Medical   </vt:lpstr>
      <vt:lpstr>Structura Dezvoltare Proiect RN</vt:lpstr>
      <vt:lpstr>I. Introducere</vt:lpstr>
      <vt:lpstr> II.Descrierea nevoii si Impactul clinic</vt:lpstr>
      <vt:lpstr>III.Domeniul Industrial de Interes </vt:lpstr>
      <vt:lpstr>IV.Descrierea Sistemului cu Inteligență Artificială (SIA)</vt:lpstr>
      <vt:lpstr>🔍 Tehnologii utilizate:</vt:lpstr>
      <vt:lpstr>V.Arhitectura Software</vt:lpstr>
      <vt:lpstr>PowerPoint Presentation</vt:lpstr>
      <vt:lpstr>VI .Modelul de Retea Neuronala</vt:lpstr>
      <vt:lpstr>VII. Procesul de Antrenare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Iosif-Sebastian IVAN (139858)</dc:creator>
  <cp:lastModifiedBy>Iosif-Sebastian IVAN (139858)</cp:lastModifiedBy>
  <cp:revision>8</cp:revision>
  <dcterms:created xsi:type="dcterms:W3CDTF">2026-02-01T12:13:55Z</dcterms:created>
  <dcterms:modified xsi:type="dcterms:W3CDTF">2026-02-03T18:59:19Z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